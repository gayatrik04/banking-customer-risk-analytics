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Approx. volume by payment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transactions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Debit card</c:v>
                </c:pt>
                <c:pt idx="2">
                  <c:v>Credit card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250000</c:v>
                </c:pt>
                <c:pt idx="1">
                  <c:v>100000</c:v>
                </c:pt>
                <c:pt idx="2">
                  <c:v>75000</c:v>
                </c:pt>
                <c:pt idx="3">
                  <c:v>75000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Transactions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ec61964-d6e0-4cc7-adc6-0b67c60a483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Metrics by threshold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dLbls>
            <c:delete val="1"/>
          </c:dLbls>
          <c:cat>
            <c:strRef>
              <c:f>Sheet1!$A$2:$A$7</c:f>
              <c:strCache>
                <c:ptCount val="6"/>
                <c:pt idx="0">
                  <c:v>0.20</c:v>
                </c:pt>
                <c:pt idx="1">
                  <c:v>0.30</c:v>
                </c:pt>
                <c:pt idx="2">
                  <c:v>0.40</c:v>
                </c:pt>
                <c:pt idx="3">
                  <c:v>0.50</c:v>
                </c:pt>
                <c:pt idx="4">
                  <c:v>0.60</c:v>
                </c:pt>
                <c:pt idx="5">
                  <c:v>0.70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96.28</c:v>
                </c:pt>
                <c:pt idx="1">
                  <c:v>91.64</c:v>
                </c:pt>
                <c:pt idx="2">
                  <c:v>85.76</c:v>
                </c:pt>
                <c:pt idx="3">
                  <c:v>72.45</c:v>
                </c:pt>
                <c:pt idx="4">
                  <c:v>55.11</c:v>
                </c:pt>
                <c:pt idx="5">
                  <c:v>40.25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(%)</c:v>
                </c:pt>
              </c:strCache>
            </c:strRef>
          </c:tx>
          <c:dLbls>
            <c:delete val="1"/>
          </c:dLbls>
          <c:cat>
            <c:strRef>
              <c:f>Sheet1!$A$2:$A$7</c:f>
              <c:strCache>
                <c:ptCount val="6"/>
                <c:pt idx="0">
                  <c:v>0.20</c:v>
                </c:pt>
                <c:pt idx="1">
                  <c:v>0.30</c:v>
                </c:pt>
                <c:pt idx="2">
                  <c:v>0.40</c:v>
                </c:pt>
                <c:pt idx="3">
                  <c:v>0.50</c:v>
                </c:pt>
                <c:pt idx="4">
                  <c:v>0.60</c:v>
                </c:pt>
                <c:pt idx="5">
                  <c:v>0.70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7.36</c:v>
                </c:pt>
                <c:pt idx="1">
                  <c:v>8.87</c:v>
                </c:pt>
                <c:pt idx="2">
                  <c:v>10.64</c:v>
                </c:pt>
                <c:pt idx="3">
                  <c:v>12.12</c:v>
                </c:pt>
                <c:pt idx="4">
                  <c:v>13.24</c:v>
                </c:pt>
                <c:pt idx="5">
                  <c:v>15.59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(%)</c:v>
                </c:pt>
              </c:strCache>
            </c:strRef>
          </c:tx>
          <c:dLbls>
            <c:delete val="1"/>
          </c:dLbls>
          <c:cat>
            <c:strRef>
              <c:f>Sheet1!$A$2:$A$7</c:f>
              <c:strCache>
                <c:ptCount val="6"/>
                <c:pt idx="0">
                  <c:v>0.20</c:v>
                </c:pt>
                <c:pt idx="1">
                  <c:v>0.30</c:v>
                </c:pt>
                <c:pt idx="2">
                  <c:v>0.40</c:v>
                </c:pt>
                <c:pt idx="3">
                  <c:v>0.50</c:v>
                </c:pt>
                <c:pt idx="4">
                  <c:v>0.60</c:v>
                </c:pt>
                <c:pt idx="5">
                  <c:v>0.70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13.68</c:v>
                </c:pt>
                <c:pt idx="1">
                  <c:v>16.17</c:v>
                </c:pt>
                <c:pt idx="2">
                  <c:v>18.93</c:v>
                </c:pt>
                <c:pt idx="3">
                  <c:v>20.76</c:v>
                </c:pt>
                <c:pt idx="4">
                  <c:v>21.36</c:v>
                </c:pt>
                <c:pt idx="5">
                  <c:v>22.47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0a1d22-0b93-4e2b-9085-639c7910c111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731520"/>
            <a:ext cx="2103120" cy="2103120"/>
          </a:xfrm>
          <a:prstGeom prst="ellipse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417320" cy="1417320"/>
          </a:xfrm>
          <a:prstGeom prst="ellipse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971800"/>
            <a:ext cx="1005840" cy="1005840"/>
          </a:xfrm>
          <a:prstGeom prst="ellipse">
            <a:avLst/>
          </a:prstGeom>
          <a:solidFill>
            <a:srgbClr val="4F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3886200"/>
            <a:ext cx="777240" cy="777240"/>
          </a:xfrm>
          <a:prstGeom prst="ellipse">
            <a:avLst/>
          </a:prstGeom>
          <a:solidFill>
            <a:srgbClr val="E8C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94944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D9E59"/>
                </a:solidFill>
                <a:latin typeface="Aptos"/>
              </a:rPr>
              <a:t>BANKING CUSTOMER &amp; RISK ANALYTICS</a:t>
            </a:r>
            <a:endParaRPr sz="14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713232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Portfolio Insights
&amp; ML Risk Modeling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3657600"/>
            <a:ext cx="640080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5EDE9"/>
                </a:solidFill>
                <a:latin typeface="Aptos"/>
              </a:rPr>
              <a:t>Exploratory data analysis, operational recommendations, and an initial loan-default classification workflow</a:t>
            </a:r>
            <a:endParaRPr sz="1700" b="0">
              <a:solidFill>
                <a:srgbClr val="E5EDE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5989320"/>
            <a:ext cx="6858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PROJECT PRESENTATION  •  EDA + MACHINE LEARNING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Executive overview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A cross-functional view of balances, branches, lending, payments, and early ML results.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02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92224"/>
            <a:ext cx="227685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690K+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2304288"/>
            <a:ext cx="227685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Records across core datasets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92224"/>
            <a:ext cx="227685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500K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3592" y="2304288"/>
            <a:ext cx="227685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Transactions analyzed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92224"/>
            <a:ext cx="227685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₹6.02B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2304288"/>
            <a:ext cx="227685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Transaction value reported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06840" y="1645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792224"/>
            <a:ext cx="227685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30K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71432" y="2304288"/>
            <a:ext cx="227685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Loan records modeled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73152" cy="233172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00984"/>
            <a:ext cx="31363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Portfolio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3721608"/>
            <a:ext cx="3136392" cy="16367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Most positive balances sit below $50K; fixed deposits carry the highest average positive balance, while loan accounts have the largest negative average.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8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154680"/>
            <a:ext cx="73152" cy="233172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300984"/>
            <a:ext cx="31363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Operations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721608"/>
            <a:ext cx="3136392" cy="16367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Branch account volumes are relatively uniform, but staffing varies substantially. Capacity alignment is worth investigating before reallocating staff.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20" y="315468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154680"/>
            <a:ext cx="73152" cy="233172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300984"/>
            <a:ext cx="31363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Risk &amp; payments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3721608"/>
            <a:ext cx="3136392" cy="16367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Loan default risk needs deeper segmentation. UPI dominates transaction volume, and payment success monitoring remains operationally important.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77179"/>
                </a:solidFill>
                <a:latin typeface="Aptos"/>
              </a:rPr>
              <a:t>Note: figures and currencies are reproduced from the supplied EDA summary; validate currency conventions and metric definitions before external use.</a:t>
            </a:r>
            <a:endParaRPr sz="1000" b="0">
              <a:solidFill>
                <a:srgbClr val="6771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1. Account balance &amp; portfolio distribution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Balance distribution is concentrated at lower positive balances, with a wide tail of both negative and high positive exposure.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03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241401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297073"/>
                </a:solidFill>
                <a:latin typeface="Aptos"/>
              </a:rPr>
              <a:t>$0–$50K</a:t>
            </a:r>
            <a:endParaRPr sz="23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41401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Most accounts fall in this range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11880" y="16002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746504"/>
            <a:ext cx="241401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D9E59"/>
                </a:solidFill>
                <a:latin typeface="Aptos"/>
              </a:rPr>
              <a:t>$10K–$30K</a:t>
            </a:r>
            <a:endParaRPr sz="22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6472" y="2258568"/>
            <a:ext cx="241401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Peak account-volume band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746504"/>
            <a:ext cx="195681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97073"/>
                </a:solidFill>
                <a:latin typeface="Aptos"/>
              </a:rPr>
              <a:t>~$125K</a:t>
            </a:r>
            <a:endParaRPr sz="22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02552" y="2258568"/>
            <a:ext cx="195681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Fixed deposit avg. balance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06840" y="16002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746504"/>
            <a:ext cx="213969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14B41"/>
                </a:solidFill>
                <a:latin typeface="Aptos"/>
              </a:rPr>
              <a:t>~-$100K</a:t>
            </a:r>
            <a:endParaRPr sz="2200" b="1">
              <a:solidFill>
                <a:srgbClr val="B14B4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71432" y="2258568"/>
            <a:ext cx="213969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Loan account avg. balance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63240"/>
            <a:ext cx="73152" cy="228600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0954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What stands out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496519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• Balances span approximately -$200K to +$250K.
• Savings average ~$38K; checking averages ~$18K.
• Credit-card balances average roughly -$7K.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20954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Recommended next analysis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4807" y="3630168"/>
            <a:ext cx="482803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Separate deposit balances from credit exposure. Review outliers, product mix, and high-balance customer concentration before making wealth-management recommendations.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14B41"/>
                </a:solidFill>
                <a:latin typeface="Aptos"/>
              </a:rPr>
              <a:t>Currency label in the supplied summary is '$'; verify whether balances are actually USD or another currency before publishing.</a:t>
            </a:r>
            <a:endParaRPr sz="1000" b="0">
              <a:solidFill>
                <a:srgbClr val="B14B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2. Branch network &amp; workforce efficiency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Footprint and staffing patterns point to opportunities for a capacity review—not an automatic headcount transfer.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04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26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Branches in South region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22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35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Branches in North region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12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Branches in Central region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13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Branches in Maharashtra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63240"/>
            <a:ext cx="73152" cy="228600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0954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Operational signal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496519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Branch account volumes are close to 3,370–3,449, while reported employee counts range from ~32 in Bhopal to 167 in Aurangabad.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20954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Action to validate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4807" y="3630168"/>
            <a:ext cx="482803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Compare accounts and transactions per employee, service-level performance, opening hours, local demand, and branch roles before recommending staffing changes.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14B41"/>
                </a:solidFill>
                <a:latin typeface="Aptos"/>
              </a:rPr>
              <a:t>Avoid labeling a branch overstaffed from employee count alone; branch complexity and service workload may differ.</a:t>
            </a:r>
            <a:endParaRPr sz="1000" b="0">
              <a:solidFill>
                <a:srgbClr val="B14B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3. Lending &amp; credit risk health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Loan volume is concentrated in active accounts and home loans; risk segmentation should go beyond income bands.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05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~21K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Active loans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~8.6K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35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Closed loans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B14B41"/>
                </a:solidFill>
                <a:latin typeface="Aptos"/>
              </a:rPr>
              <a:t>~452</a:t>
            </a:r>
            <a:endParaRPr sz="2600" b="1">
              <a:solidFill>
                <a:srgbClr val="B14B4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Loans labeled Defaulted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~10.6K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Home loans (largest product)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63240"/>
            <a:ext cx="73152" cy="22860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0954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Income-tier finding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496519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Default rates range from approximately 4.23% to 5.61%. The ₹10L–₹20L income band has the largest volume (15,289 loans) and highest reported default rate (5.61%).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20954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Risk-management implication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4807" y="3630168"/>
            <a:ext cx="482803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Income alone may not separate risk well. Evaluate credit score, debt-to-income ratio, loan type, affordability, and repayment history. Validate definitions and target labels.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14B41"/>
                </a:solidFill>
                <a:latin typeface="Aptos"/>
              </a:rPr>
              <a:t>Data consistency check: the supplied summary reports ~452 defaulted loan statuses (~1.5% of 30K), while default_flag has 1,617 'Yes' records (5.39%). These are different labels/definitions and must not be conflated.</a:t>
            </a:r>
            <a:endParaRPr sz="1000" b="0">
              <a:solidFill>
                <a:srgbClr val="B14B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4. Transactions &amp; payment channels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UPI dominates volume; credit transactions dominate monetary value. Reliability should be monitored by channel and value.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06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500K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Total transactions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₹6.02B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35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Reported transaction value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~250K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UPI transactions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~460K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Successful transactions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77240" y="3017520"/>
          <a:ext cx="5212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63640" y="30632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20954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Value and reliability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07" y="3630168"/>
            <a:ext cx="482803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Credit transactions contribute ~83% of value (avg. ₹50,490.01); debit transactions contribute ~80% of volume (avg. ₹2,505.35). Channel failure rates are reported at roughly 4.8%–5.0%.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D2B3D"/>
                </a:solidFill>
                <a:latin typeface="Aptos"/>
              </a:rPr>
              <a:t>Action: track failure rate by channel, transaction value, time, and gateway; prioritize monitoring for high-volume UPI and high-value credit flows.</a:t>
            </a:r>
            <a:endParaRPr sz="1100" b="1">
              <a:solidFill>
                <a:srgbClr val="1D2B3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Key actionable recommendations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Convert the descriptive findings into testable operational actions.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07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50876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01  Workforce capacity review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96519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Compare accounts and transactions per employee, wait times, SLA, and branch workload before adjusting staffing.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73152" cy="150876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4650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02  Wealth and deposit retention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4807" y="2167128"/>
            <a:ext cx="482803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Segment high-balance and fixed-deposit customers; evaluate suitable cross-sell and retention opportunities.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73152" cy="1508760"/>
          </a:xfrm>
          <a:prstGeom prst="rect">
            <a:avLst/>
          </a:prstGeom>
          <a:solidFill>
            <a:srgbClr val="B14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2958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03  Better credit-risk segmentation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3950208"/>
            <a:ext cx="496519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Assess credit score, affordability, loan type, debt-to-income, and repayment history; test model stability across groups.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3832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383280"/>
            <a:ext cx="73152" cy="150876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52958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04  Payment-channel reliability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64807" y="3950208"/>
            <a:ext cx="482803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Monitor channel-level success, failure reasons, transaction value, and time-to-resolution; prioritize UPI volume and high-value flows.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Prioritize recommendations only after validating source definitions, operational constraints, and customer outcomes.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Machine learning: loan-default classification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A baseline classification workflow built from 30,000 loan records joined with selected customer attributes.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08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30,000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Loan records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B14B41"/>
                </a:solidFill>
                <a:latin typeface="Aptos"/>
              </a:rPr>
              <a:t>5.39%</a:t>
            </a:r>
            <a:endParaRPr sz="2600" b="1">
              <a:solidFill>
                <a:srgbClr val="B14B4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35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Default_flag = Yes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D9E59"/>
                </a:solidFill>
                <a:latin typeface="Aptos"/>
              </a:rPr>
              <a:t>80 / 20</a:t>
            </a:r>
            <a:endParaRPr sz="2600" b="1">
              <a:solidFill>
                <a:srgbClr val="DD9E5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Stratified train/test split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16002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746504"/>
            <a:ext cx="2231136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97073"/>
                </a:solidFill>
                <a:latin typeface="Aptos"/>
              </a:rPr>
              <a:t>10</a:t>
            </a:r>
            <a:endParaRPr sz="2600" b="1">
              <a:solidFill>
                <a:srgbClr val="29707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258568"/>
            <a:ext cx="2231136" cy="4297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77179"/>
                </a:solidFill>
                <a:latin typeface="Aptos"/>
              </a:rPr>
              <a:t>Selected input features</a:t>
            </a:r>
            <a:endParaRPr sz="1100" b="1">
              <a:solidFill>
                <a:srgbClr val="67717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63240"/>
            <a:ext cx="73152" cy="228600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0954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Target and safeguards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496519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Target: default_flag (No/Yes). Excluded IDs, loan_status, and remaining_balance from the initial features to reduce leakage risk. Numeric inputs were scaled; categorical inputs one-hot encoded.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22860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20954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Models trained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4807" y="3630168"/>
            <a:ext cx="4828032" cy="15910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Logistic Regression with class_weight='balanced' and Random Forest with class_weight='balanced'. Test-set metrics include precision, recall, F1-score, accuracy, and ROC-AUC.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14B41"/>
                </a:solidFill>
                <a:latin typeface="Aptos"/>
              </a:rPr>
              <a:t>Note: the observed target distribution is imbalanced (1,617 defaults vs 28,383 non-defaults); accuracy alone is not a sufficient success measure.</a:t>
            </a:r>
            <a:endParaRPr sz="1000" b="0">
              <a:solidFill>
                <a:srgbClr val="B14B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ML results: accuracy alone would mislead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Held-out test set: 6,000 loans, including 323 positive default labels.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09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91640"/>
          <a:ext cx="6492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31720"/>
                <a:gridCol w="2331720"/>
              </a:tblGrid>
              <a:tr h="556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R="73152" marT="73152">
                    <a:solidFill>
                      <a:srgbClr val="1D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109728" marR="73152" marT="73152">
                    <a:solidFill>
                      <a:srgbClr val="1D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109728" marR="73152" marT="73152">
                    <a:solidFill>
                      <a:srgbClr val="1D2B3D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70.23%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93.57%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12.12%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20.56%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72.45%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6.81%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20.76%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10.23%</a:t>
                      </a:r>
                    </a:p>
                  </a:txBody>
                  <a:tcPr marL="109728" marR="73152" marT="73152">
                    <a:solidFill>
                      <a:srgbClr val="E5EDE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77.77%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43C"/>
                          </a:solidFill>
                          <a:latin typeface="Aptos"/>
                        </a:defRPr>
                      </a:pPr>
                      <a:r>
                        <a:t>76.48%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691640"/>
            <a:ext cx="3886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691640"/>
            <a:ext cx="73152" cy="141732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837944"/>
            <a:ext cx="35021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Recall matters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90688" y="2258568"/>
            <a:ext cx="3502152" cy="7223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Logistic Regression identified 234 of 323 actual defaults at threshold 0.50; Random Forest identified only 22.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89520" y="3337560"/>
            <a:ext cx="3886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337560"/>
            <a:ext cx="73152" cy="141732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3483864"/>
            <a:ext cx="35021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Interpretation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3904487"/>
            <a:ext cx="3502152" cy="7223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Random Forest's higher accuracy largely reflects predicting the majority non-default class. Logistic Regression is the stronger baseline for catching defaults at threshold 0.50.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14B41"/>
                </a:solidFill>
                <a:latin typeface="Aptos"/>
              </a:rPr>
              <a:t>Caution: these are preliminary results from one train/test split. Validate using cross-validation, threshold selection on validation data, calibration, fairness analysis, and realistic cost assumptions before drawing operational conclusions.</a:t>
            </a:r>
            <a:endParaRPr sz="1000" b="0">
              <a:solidFill>
                <a:srgbClr val="B14B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Threshold tuning: a business trade-off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Lower thresholds catch more defaults but increase false alarms. Threshold choice should reflect review capacity and the cost of missed defaults.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10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0020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73736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737360"/>
            <a:ext cx="73152" cy="1417320"/>
          </a:xfrm>
          <a:prstGeom prst="rect">
            <a:avLst/>
          </a:prstGeom>
          <a:solidFill>
            <a:srgbClr val="B14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883664"/>
            <a:ext cx="318211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Threshold 0.20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10728" y="2304288"/>
            <a:ext cx="3182112" cy="7223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Recall 96.28%; 12 defaults missed, but 3,914 false alarms.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09560" y="338328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383280"/>
            <a:ext cx="73152" cy="141732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3529584"/>
            <a:ext cx="318211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Threshold 0.70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0728" y="3950208"/>
            <a:ext cx="3182112" cy="7223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F1-score is highest among tested thresholds (22.47%), but 193 defaults are missed.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77179"/>
                </a:solidFill>
                <a:latin typeface="Aptos"/>
              </a:rPr>
              <a:t>The 0.50 threshold is retained as the baseline for reporting; threshold 0.70 has the best F1 among this tested grid, not necessarily the best business outcome.</a:t>
            </a:r>
            <a:endParaRPr sz="1000" b="0">
              <a:solidFill>
                <a:srgbClr val="6771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D2B3D"/>
                </a:solidFill>
                <a:latin typeface="Aptos"/>
              </a:rPr>
              <a:t>Feature insights from both models</a:t>
            </a:r>
            <a:endParaRPr sz="27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77179"/>
                </a:solidFill>
                <a:latin typeface="Aptos"/>
              </a:rPr>
              <a:t>Credit score ranks first in both models, but feature importance is descriptive and does not establish causality.</a:t>
            </a:r>
            <a:endParaRPr sz="11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77179"/>
                </a:solidFill>
                <a:latin typeface="Aptos"/>
              </a:rPr>
              <a:t>11</a:t>
            </a:r>
            <a:endParaRPr sz="900" b="0">
              <a:solidFill>
                <a:srgbClr val="6771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82880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Logistic Regression coefficients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965192" cy="11338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Largest absolute coefficient: credit_score (-1.2782). Other top coefficients include occupation, marital-status, and customer-segment indicators. Coefficient direction is relative to encoded reference categories.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73152" cy="1828800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9222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Random Forest importance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4807" y="2212848"/>
            <a:ext cx="4828032" cy="11338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Top features: credit_score (0.3177), interest_rate (0.1544), EMI (0.1078), annual_income (0.0984), age (0.0874), and loan_amount (0.0835).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73152" cy="1508760"/>
          </a:xfrm>
          <a:prstGeom prst="rect">
            <a:avLst/>
          </a:prstGeom>
          <a:solidFill>
            <a:srgbClr val="29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41064"/>
            <a:ext cx="496519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What this suggests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4361688"/>
            <a:ext cx="496519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Creditworthiness and loan terms merit closer investigation in the next iteration.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73152" cy="1508760"/>
          </a:xfrm>
          <a:prstGeom prst="rect">
            <a:avLst/>
          </a:prstGeom>
          <a:solidFill>
            <a:srgbClr val="B14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941064"/>
            <a:ext cx="482803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2B3D"/>
                </a:solidFill>
                <a:latin typeface="Aptos"/>
              </a:rPr>
              <a:t>What it does not prove</a:t>
            </a:r>
            <a:endParaRPr sz="1600" b="1">
              <a:solidFill>
                <a:srgbClr val="1D2B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64807" y="4361688"/>
            <a:ext cx="4828032" cy="8138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43C"/>
                </a:solidFill>
                <a:latin typeface="Aptos"/>
              </a:rPr>
              <a:t>Importance does not mean causation, and these findings do not establish suitability for real lending decisions.</a:t>
            </a:r>
            <a:endParaRPr sz="1200" b="0">
              <a:solidFill>
                <a:srgbClr val="2C34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77179"/>
                </a:solidFill>
                <a:latin typeface="Aptos"/>
              </a:rPr>
              <a:t>Recommended next: permutation importance on held-out data, calibration, error analysis, and subgroup fairness checks.</a:t>
            </a:r>
            <a:endParaRPr sz="1000" b="0">
              <a:solidFill>
                <a:srgbClr val="6771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Limitations &amp; next steps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5EDE9"/>
                </a:solidFill>
                <a:latin typeface="Aptos"/>
              </a:rPr>
              <a:t>Turn the initial analysis into a reproducible, carefully validated portfolio-risk project.</a:t>
            </a:r>
            <a:endParaRPr sz="1100" b="0">
              <a:solidFill>
                <a:srgbClr val="E5EDE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822960" cy="50292"/>
          </a:xfrm>
          <a:prstGeom prst="rect">
            <a:avLst/>
          </a:prstGeom>
          <a:solidFill>
            <a:srgbClr val="DD9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E5EDE9"/>
                </a:solidFill>
                <a:latin typeface="Aptos"/>
              </a:rPr>
              <a:t>12</a:t>
            </a:r>
            <a:endParaRPr sz="900" b="0">
              <a:solidFill>
                <a:srgbClr val="E5EDE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212080" cy="356616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Validate currency units and source metric definitions.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Reconcile loan_status='Defaulted' with default_flag='Yes' before reporting a single default rate.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Keep threshold selection on a validation set, not the final test set.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Use cross-validation and tune class weights / model hyperparameters.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120640" cy="356616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Assess precision-recall curve and probability calibration.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Check leakage, data drift, and data quality over time.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Evaluate subgroup error rates and fairness before considering deployment.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Translate model scores into a review workflow—not automatic lending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789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D9E59"/>
                </a:solidFill>
                <a:latin typeface="Aptos"/>
              </a:rPr>
              <a:t>Conclusion: the project combines portfolio EDA, operational recommendations, and a first imbalanced-classification workflow; careful validation is the next milestone.</a:t>
            </a:r>
            <a:endParaRPr sz="1300" b="1">
              <a:solidFill>
                <a:srgbClr val="DD9E5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8652</Words>
  <Application>WPS Presentation</Application>
  <PresentationFormat>On-screen Show (4:3)</PresentationFormat>
  <Paragraphs>334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2</cp:revision>
  <dcterms:created xsi:type="dcterms:W3CDTF">2013-01-27T09:14:00Z</dcterms:created>
  <dcterms:modified xsi:type="dcterms:W3CDTF">2026-10-09T20:22:32Z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40BD1DFA100D462AA5C869A506AA51EA_13</vt:lpwstr>
  </property>
  <property fmtid="{D5CDD505-2E9C-101B-9397-08002B2CF9AE}" pid="3" name="KSOProductBuildVer">
    <vt:lpwstr>1033-12.1.0.28485</vt:lpwstr>
  </property>
</Properties>
</file>