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94D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BANKING ANALYTICS PROJECT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A plain-language walkthrough of customers, loans, transactions and branch performance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Prepared by Gayatri Kasbekar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gayatrikasbekar1311@gmail.com   |   github.com/Gayatrik04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Built with Python · MySQL · Power BI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What This Presentation Covers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No technical background needed — every number is explained in plain business terms.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02920" y="19202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463040" y="21031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463040" y="242316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Why banks need one clear, trustworthy view of their data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172200" y="19202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400800" y="2148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132320" y="21031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132320" y="242316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How raw records became one easy-to-use dashboard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02920" y="356616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463040" y="3749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The Dashboard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463040" y="406908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A look at the four report pages built for the business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172200" y="356616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400800" y="379476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0" y="3794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132320" y="3749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Key Numbers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132320" y="406908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The headline figures every leader should know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521208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463040" y="5394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What We Found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463040" y="571500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Insights about customers, loans, risk and branches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172200" y="521208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00800" y="5440680"/>
            <a:ext cx="548640" cy="54864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00800" y="5440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132320" y="5394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What To Do Next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132320" y="571500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Practical recommendations and the roadmap ahead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Data Was Everywhere — Answers Were Nowhere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02920" y="1371600"/>
            <a:ext cx="6492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Every day, a bank creates huge amounts of data — new accounts, loan repayments, card swipes, UPI transfers. But this data usually sits scattered across separate systems, making simple questions surprisingly hard to answer quickly.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2752344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22960" y="2624328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Which customers are most valuable — and which might leave?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3319272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22960" y="3191256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Which loans are most likely to default, and why?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22960" y="3758184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Which branches and regions are performing best?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4453128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22960" y="4325112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Are customers financially comfortable, or stretched thin?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315200" y="1371600"/>
            <a:ext cx="4343400" cy="4434840"/>
          </a:xfrm>
          <a:prstGeom prst="roundRect">
            <a:avLst>
              <a:gd fmla="val 2105" name="adj"/>
            </a:avLst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680960" y="1737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503920" y="181051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Goal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635240" y="2651760"/>
            <a:ext cx="3703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Bring five separate banking datasets together into one clean, reliable source — and present it through a dashboard any manager can use, technical or not, to make faster, evidence-based decisions.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7635240" y="4526280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7635240" y="4709160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This project informs decisions — it does not automate lending decisions.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From Raw Records to a Ready-to-Use Dashboard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Three simple stages turn scattered spreadsheets into business answers.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1965960"/>
            <a:ext cx="2606040" cy="3977640"/>
          </a:xfrm>
          <a:prstGeom prst="roundRect">
            <a:avLst>
              <a:gd fmla="val 3509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440180" y="2286000"/>
            <a:ext cx="731520" cy="7315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440180" y="2286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📄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12648" y="2075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8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85800" y="365760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5 linked datasets: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75K customers · 85K accounts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30K loans · 500K transactions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100 branches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118104" y="3634740"/>
            <a:ext cx="237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364992" y="1965960"/>
            <a:ext cx="2606040" cy="3977640"/>
          </a:xfrm>
          <a:prstGeom prst="roundRect">
            <a:avLst>
              <a:gd fmla="val 3509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302252" y="2286000"/>
            <a:ext cx="731520" cy="73152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302252" y="2286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🧹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474720" y="2075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502152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 &amp; Organise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547872" y="365760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Python fixes missing data,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removes duplicates, and creates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business fields like income group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and risk category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980176" y="3634740"/>
            <a:ext cx="237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227064" y="1965960"/>
            <a:ext cx="2606040" cy="3977640"/>
          </a:xfrm>
          <a:prstGeom prst="roundRect">
            <a:avLst>
              <a:gd fmla="val 3509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164324" y="2286000"/>
            <a:ext cx="731520" cy="7315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164324" y="2286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🔎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36792" y="2075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64224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9944" y="365760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MySQL answers 35+ real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business questions, from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top branches to default rates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by loan type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842248" y="3634740"/>
            <a:ext cx="237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089136" y="1965960"/>
            <a:ext cx="2606040" cy="3977640"/>
          </a:xfrm>
          <a:prstGeom prst="roundRect">
            <a:avLst>
              <a:gd fmla="val 3509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0026396" y="2286000"/>
            <a:ext cx="731520" cy="73152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0026396" y="2286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198864" y="2075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226296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272016" y="365760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Power BI turns the results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into one interactive dashboard —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filter and explore with no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coding required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94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KEY NUMBERS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Bank, At a Glance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These are the headline figures every leader should know.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02920" y="196596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02920" y="207568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75,000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76072" y="329184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Customers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337560" y="196596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337560" y="207568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₹6bn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410712" y="329184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Transaction Value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172200" y="196596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172200" y="207568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₹2.41bn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245352" y="329184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Deposits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006840" y="196596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006840" y="207568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30,000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079992" y="329184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Loans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02920" y="397764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02920" y="408736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5.39%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76072" y="530352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Loan Default Rate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37560" y="397764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337560" y="408736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500K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410712" y="530352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Transactions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172200" y="397764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172200" y="408736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92.01%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245352" y="530352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Transaction Success Rate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006840" y="3977640"/>
            <a:ext cx="2606040" cy="1737360"/>
          </a:xfrm>
          <a:prstGeom prst="roundRect">
            <a:avLst>
              <a:gd fmla="val 4211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9006840" y="4087368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₹4bn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079992" y="5303520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Total Loan Amount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THE DASHBOARD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One Dashboard, Four Views — Built for Every Team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02920" y="1417320"/>
            <a:ext cx="5394960" cy="2331720"/>
          </a:xfrm>
          <a:prstGeom prst="roundRect">
            <a:avLst>
              <a:gd fmla="val 2353" name="adj"/>
            </a:avLst>
          </a:prstGeom>
          <a:solidFill>
            <a:srgbClr val="E7EEF7"/>
          </a:solidFill>
          <a:ln cap="flat" cmpd="sng" w="952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executive_overview.png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527048"/>
            <a:ext cx="5175504" cy="167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640080" y="3218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Executive Overview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" y="347472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Leadership snapshot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263640" y="1417320"/>
            <a:ext cx="5394960" cy="2331720"/>
          </a:xfrm>
          <a:prstGeom prst="roundRect">
            <a:avLst>
              <a:gd fmla="val 2353" name="adj"/>
            </a:avLst>
          </a:prstGeom>
          <a:solidFill>
            <a:srgbClr val="E7EEF7"/>
          </a:solidFill>
          <a:ln cap="flat" cmpd="sng" w="952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customer_analysis.png"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368" y="1527048"/>
            <a:ext cx="5175504" cy="167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6400800" y="3218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Customer Analytics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0" y="347472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Marketing &amp; relationship teams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2920" y="4069080"/>
            <a:ext cx="5394960" cy="2331720"/>
          </a:xfrm>
          <a:prstGeom prst="roundRect">
            <a:avLst>
              <a:gd fmla="val 2353" name="adj"/>
            </a:avLst>
          </a:prstGeom>
          <a:solidFill>
            <a:srgbClr val="E7EEF7"/>
          </a:solidFill>
          <a:ln cap="flat" cmpd="sng" w="952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loan_and_risk_analysis.png" id="179" name="Google Shape;17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4178808"/>
            <a:ext cx="5175504" cy="167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640080" y="58704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Loan &amp; Risk Analytics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612648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Credit &amp; risk teams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263640" y="4069080"/>
            <a:ext cx="5394960" cy="2331720"/>
          </a:xfrm>
          <a:prstGeom prst="roundRect">
            <a:avLst>
              <a:gd fmla="val 2353" name="adj"/>
            </a:avLst>
          </a:prstGeom>
          <a:solidFill>
            <a:srgbClr val="E7EEF7"/>
          </a:solidFill>
          <a:ln cap="flat" cmpd="sng" w="952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branch_and_transaction_analytics.png" id="183" name="Google Shape;1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3368" y="4178808"/>
            <a:ext cx="5175504" cy="1673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6400800" y="58704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Branch &amp; Transaction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0" y="612648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Branch &amp; payments teams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WHAT WE FOUND · CUSTOMERS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Who Our Customers Are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⚖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188720" y="1517904"/>
            <a:ext cx="4709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Balanced Base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188720" y="181051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52% male, 48% female — a broadly even customer mix.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🎂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188720" y="2478024"/>
            <a:ext cx="4709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Middle-Aged Majority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88720" y="277063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Customers aged 30-59 make up roughly two-thirds of the base.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2920" y="347472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188720" y="3438144"/>
            <a:ext cx="4709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Mostly Premium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88720" y="373075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Platinum (43.8%) is the largest customer tier — a broadly loyal, affluent base.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02920" y="443484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502920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📍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188720" y="4398264"/>
            <a:ext cx="4709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A Few Key States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188720" y="469087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Maharashtra, Gujarat, Tamil Nadu &amp; Karnataka hold ~half of all customers.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92240" y="1554480"/>
            <a:ext cx="5166360" cy="4434840"/>
          </a:xfrm>
          <a:prstGeom prst="roundRect">
            <a:avLst>
              <a:gd fmla="val 2062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766560" y="1737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Customer Segment Mix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766560" y="23317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Platinum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229600" y="2377440"/>
            <a:ext cx="306324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229600" y="2377440"/>
            <a:ext cx="2982234" cy="256032"/>
          </a:xfrm>
          <a:prstGeom prst="roundRect">
            <a:avLst>
              <a:gd fmla="val 14286" name="adj"/>
            </a:avLst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8229600" y="231343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43.8%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766560" y="2898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229600" y="2944368"/>
            <a:ext cx="306324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8229600" y="2944368"/>
            <a:ext cx="2581971" cy="256032"/>
          </a:xfrm>
          <a:prstGeom prst="roundRect">
            <a:avLst>
              <a:gd fmla="val 14286" name="adj"/>
            </a:avLst>
          </a:prstGeom>
          <a:solidFill>
            <a:srgbClr val="2E8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229600" y="28803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37.9%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766560" y="346557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229600" y="3511296"/>
            <a:ext cx="306324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229600" y="3511296"/>
            <a:ext cx="1242995" cy="256032"/>
          </a:xfrm>
          <a:prstGeom prst="roundRect">
            <a:avLst>
              <a:gd fmla="val 14286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229600" y="344728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18.3%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10"/>
          <p:cNvCxnSpPr/>
          <p:nvPr/>
        </p:nvCxnSpPr>
        <p:spPr>
          <a:xfrm>
            <a:off x="6766560" y="4078224"/>
            <a:ext cx="4526280" cy="0"/>
          </a:xfrm>
          <a:prstGeom prst="straightConnector1">
            <a:avLst/>
          </a:prstGeom>
          <a:noFill/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0"/>
          <p:cNvSpPr/>
          <p:nvPr/>
        </p:nvSpPr>
        <p:spPr>
          <a:xfrm>
            <a:off x="6766560" y="43068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Top States by Customer Base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766560" y="469087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•  Maharashtra — 17.7K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766560" y="501091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•  Gujarat — 13.3K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766560" y="533095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•  Tamil Nadu — 8.9K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766560" y="565099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•  Karnataka — 8.7K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WHAT WE FOUND · LOANS &amp; RISK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How Healthy Is the Loan Book?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02920" y="1463040"/>
            <a:ext cx="3566160" cy="4526280"/>
          </a:xfrm>
          <a:prstGeom prst="roundRect">
            <a:avLst>
              <a:gd fmla="val 2564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85800" y="16002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Loan Risk Split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high_low_risk_loan.pn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965960"/>
            <a:ext cx="301752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685800" y="4709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2 in 3 loans are Low Risk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(66.8% low risk vs 33.2% high risk)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206240" y="1463040"/>
            <a:ext cx="3566160" cy="4526280"/>
          </a:xfrm>
          <a:prstGeom prst="roundRect">
            <a:avLst>
              <a:gd fmla="val 2564" name="adj"/>
            </a:avLst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434840" y="164592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 Score Is a Strong Predictor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434840" y="23317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21.68%</a:t>
            </a:r>
            <a:endParaRPr b="0" i="0" sz="4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434840" y="32461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default rate for "Poor" credit-score customers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1"/>
          <p:cNvCxnSpPr/>
          <p:nvPr/>
        </p:nvCxnSpPr>
        <p:spPr>
          <a:xfrm>
            <a:off x="4434840" y="3931920"/>
            <a:ext cx="3108960" cy="0"/>
          </a:xfrm>
          <a:prstGeom prst="straightConnector1">
            <a:avLst/>
          </a:prstGeom>
          <a:noFill/>
          <a:ln cap="flat" cmpd="sng" w="1587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1"/>
          <p:cNvSpPr/>
          <p:nvPr/>
        </p:nvSpPr>
        <p:spPr>
          <a:xfrm>
            <a:off x="4434840" y="406908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5.39%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434840" y="47091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overall bank-wide default rate — roughly 4x lower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909560" y="1463040"/>
            <a:ext cx="3749040" cy="4526280"/>
          </a:xfrm>
          <a:prstGeom prst="roundRect">
            <a:avLst>
              <a:gd fmla="val 2439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138160" y="162763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What Do People Borrow For?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138160" y="2103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Home Loan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8138160" y="2377440"/>
            <a:ext cx="3246120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138160" y="2377440"/>
            <a:ext cx="3142244" cy="201168"/>
          </a:xfrm>
          <a:prstGeom prst="roundRect">
            <a:avLst>
              <a:gd fmla="val 13636" name="adj"/>
            </a:avLst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9646920" y="20848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77.4%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138160" y="27249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Business Loan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138160" y="2999232"/>
            <a:ext cx="3246120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138160" y="2999232"/>
            <a:ext cx="408605" cy="201168"/>
          </a:xfrm>
          <a:prstGeom prst="roundRect">
            <a:avLst>
              <a:gd fmla="val 13636" name="adj"/>
            </a:avLst>
          </a:prstGeom>
          <a:solidFill>
            <a:srgbClr val="2E8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646920" y="270662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10.1%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138160" y="33467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Car Loan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138160" y="3621024"/>
            <a:ext cx="3246120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8138160" y="3621024"/>
            <a:ext cx="226417" cy="201168"/>
          </a:xfrm>
          <a:prstGeom prst="roundRect">
            <a:avLst>
              <a:gd fmla="val 13636" name="adj"/>
            </a:avLst>
          </a:prstGeom>
          <a:solidFill>
            <a:srgbClr val="224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9646920" y="332841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5.6%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138160" y="39684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Education Loan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138160" y="4242816"/>
            <a:ext cx="3246120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8138160" y="4242816"/>
            <a:ext cx="127004" cy="201168"/>
          </a:xfrm>
          <a:prstGeom prst="roundRect">
            <a:avLst>
              <a:gd fmla="val 21599" name="adj"/>
            </a:avLst>
          </a:prstGeom>
          <a:solidFill>
            <a:srgbClr val="B3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9646920" y="39502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3.1%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1"/>
          <p:cNvCxnSpPr/>
          <p:nvPr/>
        </p:nvCxnSpPr>
        <p:spPr>
          <a:xfrm>
            <a:off x="8138160" y="4608576"/>
            <a:ext cx="3291840" cy="0"/>
          </a:xfrm>
          <a:prstGeom prst="straightConnector1">
            <a:avLst/>
          </a:prstGeom>
          <a:noFill/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1"/>
          <p:cNvSpPr/>
          <p:nvPr/>
        </p:nvSpPr>
        <p:spPr>
          <a:xfrm>
            <a:off x="8138160" y="47914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EMI Burden by Income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138160" y="512064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Low income: 4.77% of monthly income → High income: 1.14%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WHAT WE FOUND · LOANS &amp; RISK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Where Loan Risk Is Highest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Default rate by state — states are not equally risky.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02920" y="1737360"/>
            <a:ext cx="7315200" cy="4297680"/>
          </a:xfrm>
          <a:prstGeom prst="roundRect">
            <a:avLst>
              <a:gd fmla="val 1702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top_states_by_loan_default_rate.png" id="284" name="Google Shape;2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74520"/>
            <a:ext cx="694944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/>
          <p:nvPr/>
        </p:nvSpPr>
        <p:spPr>
          <a:xfrm>
            <a:off x="8092440" y="1737360"/>
            <a:ext cx="3566160" cy="4297680"/>
          </a:xfrm>
          <a:prstGeom prst="roundRect">
            <a:avLst>
              <a:gd fmla="val 2564" name="adj"/>
            </a:avLst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Highest Risk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321040" y="22860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Delhi — 6.5%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Tamil Nadu — 5.9%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Rajasthan — 5.8%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2"/>
          <p:cNvCxnSpPr/>
          <p:nvPr/>
        </p:nvCxnSpPr>
        <p:spPr>
          <a:xfrm>
            <a:off x="8321040" y="3429000"/>
            <a:ext cx="3108960" cy="0"/>
          </a:xfrm>
          <a:prstGeom prst="straightConnector1">
            <a:avLst/>
          </a:prstGeom>
          <a:noFill/>
          <a:ln cap="flat" cmpd="sng" w="1587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2"/>
          <p:cNvSpPr/>
          <p:nvPr/>
        </p:nvSpPr>
        <p:spPr>
          <a:xfrm>
            <a:off x="8321040" y="36118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8B"/>
                </a:solidFill>
                <a:latin typeface="Arial"/>
                <a:ea typeface="Arial"/>
                <a:cs typeface="Arial"/>
                <a:sym typeface="Arial"/>
              </a:rPr>
              <a:t>Lowest Risk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321040" y="397764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West Bengal — 4.5%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Karnataka — 4.9%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Gujarat — 4.95%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12"/>
          <p:cNvCxnSpPr/>
          <p:nvPr/>
        </p:nvCxnSpPr>
        <p:spPr>
          <a:xfrm>
            <a:off x="8321040" y="5120640"/>
            <a:ext cx="3108960" cy="0"/>
          </a:xfrm>
          <a:prstGeom prst="straightConnector1">
            <a:avLst/>
          </a:prstGeom>
          <a:noFill/>
          <a:ln cap="flat" cmpd="sng" w="15875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2"/>
          <p:cNvSpPr/>
          <p:nvPr/>
        </p:nvSpPr>
        <p:spPr>
          <a:xfrm>
            <a:off x="8321040" y="530352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Useful for targeting collections support and regional lending policy.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WHAT WE FOUND · TRANSACTIONS &amp; BRANCHES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How Money Moves Through the Bank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02920" y="1508760"/>
            <a:ext cx="2724912" cy="1828800"/>
          </a:xfrm>
          <a:prstGeom prst="roundRect">
            <a:avLst>
              <a:gd fmla="val 4000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612648" y="1645920"/>
            <a:ext cx="2505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49.8%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12648" y="2331720"/>
            <a:ext cx="2505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of transactions are via UPI — the leading payment method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429000" y="1508760"/>
            <a:ext cx="2724912" cy="1828800"/>
          </a:xfrm>
          <a:prstGeom prst="roundRect">
            <a:avLst>
              <a:gd fmla="val 4000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538728" y="1645920"/>
            <a:ext cx="2505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92.01%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538728" y="2331720"/>
            <a:ext cx="2505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transaction success rate — about 1 in 12 currently fail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355080" y="1508760"/>
            <a:ext cx="2724912" cy="1828800"/>
          </a:xfrm>
          <a:prstGeom prst="roundRect">
            <a:avLst>
              <a:gd fmla="val 4000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464808" y="1645920"/>
            <a:ext cx="2505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₹100M+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464808" y="2331720"/>
            <a:ext cx="2505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held by each of the top 5 branches by deposits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9281160" y="1508760"/>
            <a:ext cx="2724912" cy="1828800"/>
          </a:xfrm>
          <a:prstGeom prst="roundRect">
            <a:avLst>
              <a:gd fmla="val 4000" name="adj"/>
            </a:avLst>
          </a:prstGeom>
          <a:solidFill>
            <a:srgbClr val="F4E3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9390888" y="1645920"/>
            <a:ext cx="2505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3A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B33A3A"/>
                </a:solidFill>
                <a:latin typeface="Arial"/>
                <a:ea typeface="Arial"/>
                <a:cs typeface="Arial"/>
                <a:sym typeface="Arial"/>
              </a:rPr>
              <a:t>₹0.75bn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390888" y="2331720"/>
            <a:ext cx="2505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West region transaction value — the lowest of all regions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02920" y="3566160"/>
            <a:ext cx="11201400" cy="2423160"/>
          </a:xfrm>
          <a:prstGeom prst="roundRect">
            <a:avLst>
              <a:gd fmla="val 3019" name="adj"/>
            </a:avLst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777240" y="3749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Regional Transaction Value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77240" y="4251960"/>
            <a:ext cx="2011680" cy="1371600"/>
          </a:xfrm>
          <a:prstGeom prst="rect">
            <a:avLst/>
          </a:prstGeom>
          <a:solidFill>
            <a:srgbClr val="1E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777240" y="4251960"/>
            <a:ext cx="2011680" cy="1371600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685800" y="41148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₹1455M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85800" y="56692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North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926080" y="4256673"/>
            <a:ext cx="2011680" cy="1366887"/>
          </a:xfrm>
          <a:prstGeom prst="rect">
            <a:avLst/>
          </a:prstGeom>
          <a:solidFill>
            <a:srgbClr val="1E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2926080" y="4256673"/>
            <a:ext cx="2011680" cy="1366887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2834640" y="4119513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₹1450M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834640" y="56692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East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074920" y="4470662"/>
            <a:ext cx="2011680" cy="1152898"/>
          </a:xfrm>
          <a:prstGeom prst="rect">
            <a:avLst/>
          </a:prstGeom>
          <a:solidFill>
            <a:srgbClr val="1E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5074920" y="4470662"/>
            <a:ext cx="2011680" cy="1152898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983480" y="433350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₹1223M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983480" y="56692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Central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223760" y="4545134"/>
            <a:ext cx="2011680" cy="1078426"/>
          </a:xfrm>
          <a:prstGeom prst="rect">
            <a:avLst/>
          </a:prstGeom>
          <a:solidFill>
            <a:srgbClr val="1E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7223760" y="4545134"/>
            <a:ext cx="2011680" cy="1078426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7132320" y="440797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₹1144M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132320" y="56692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South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372600" y="4920320"/>
            <a:ext cx="2011680" cy="703240"/>
          </a:xfrm>
          <a:prstGeom prst="rect">
            <a:avLst/>
          </a:prstGeom>
          <a:solidFill>
            <a:srgbClr val="1E3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9372600" y="4920320"/>
            <a:ext cx="2011680" cy="703240"/>
          </a:xfrm>
          <a:prstGeom prst="rect">
            <a:avLst/>
          </a:prstGeom>
          <a:solidFill>
            <a:srgbClr val="B3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9281160" y="478316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₹746M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281160" y="56692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West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2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72B"/>
                </a:solidFill>
                <a:latin typeface="Arial"/>
                <a:ea typeface="Arial"/>
                <a:cs typeface="Arial"/>
                <a:sym typeface="Arial"/>
              </a:rPr>
              <a:t>WHAT TO DO NEXT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Recommendations for the Business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02920" y="150876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704088" y="169164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704088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🛡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85800" y="233172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Tighten lending for "Poor" scores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685800" y="27889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Add stricter checks or risk-based pricing — this group defaults 4x the average.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315968" y="150876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4517136" y="169164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517136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📞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498848" y="233172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Support stretched borrowers early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498848" y="27889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Reach out to lower-income customers before repayment strain turns into default.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8129016" y="150876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8330184" y="169164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330184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8311896" y="233172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Fix the 8% failed transactions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311896" y="27889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Even small gains in success rate protect meaningful value at this transaction volume.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02920" y="370332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704088" y="388620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704088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🏅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85800" y="45262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Learn from top-deposit branches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85800" y="498348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Study what Vijayawada, Ludhiana, Bhopal, Aurangabad &amp; Agra do well, then replicate it.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315968" y="370332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4517136" y="388620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4517136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🌍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498848" y="45262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Invest in the West region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498848" y="498348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Transaction value there trails every other region — a clear growth opportunity.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129016" y="3703320"/>
            <a:ext cx="3611880" cy="1965960"/>
          </a:xfrm>
          <a:prstGeom prst="roundRect">
            <a:avLst>
              <a:gd fmla="val 4186" name="adj"/>
            </a:avLst>
          </a:prstGeom>
          <a:solidFill>
            <a:srgbClr val="E7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8330184" y="3886200"/>
            <a:ext cx="502920" cy="502920"/>
          </a:xfrm>
          <a:prstGeom prst="ellipse">
            <a:avLst/>
          </a:prstGeom>
          <a:solidFill>
            <a:srgbClr val="16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8330184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311896" y="45262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Use segments for targeted offers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311896" y="498348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Design retention offers by Platinum/Gold/Silver tier, and grow Silver into Gold.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Banking Customer &amp; Risk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94D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394960" y="11887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94D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6294D"/>
                </a:solidFill>
                <a:latin typeface="Arial"/>
                <a:ea typeface="Arial"/>
                <a:cs typeface="Arial"/>
                <a:sym typeface="Arial"/>
              </a:rPr>
              <a:t>🏦</a:t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731520" y="278892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Questions and feedback are welcome.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15"/>
          <p:cNvCxnSpPr/>
          <p:nvPr/>
        </p:nvCxnSpPr>
        <p:spPr>
          <a:xfrm>
            <a:off x="4480560" y="4297680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2240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5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Gayatri Kasbekar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EF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7EEF7"/>
                </a:solidFill>
                <a:latin typeface="Arial"/>
                <a:ea typeface="Arial"/>
                <a:cs typeface="Arial"/>
                <a:sym typeface="Arial"/>
              </a:rPr>
              <a:t>gayatrikasbekar1311@gmail.com   |   github.com/Gayatrik04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FB2CC"/>
                </a:solidFill>
                <a:latin typeface="Arial"/>
                <a:ea typeface="Arial"/>
                <a:cs typeface="Arial"/>
                <a:sym typeface="Arial"/>
              </a:rPr>
              <a:t>Full technical documentation available in the project report and README.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